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media/image14.jpg" ContentType="image/jpg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8" r:id="rId3"/>
    <p:sldId id="257" r:id="rId4"/>
    <p:sldId id="269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660" y="6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47934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806440" cy="51435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5720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Real-Time Guitar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Chord Detection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Music Theory Tool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74320" y="288036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Computer Science  ·  Project Based Learning – 4  ·  End Term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33375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49E"/>
                </a:solidFill>
              </a:rPr>
              <a:t>Name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3593592"/>
            <a:ext cx="4572000" cy="1828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80160" y="33375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</a:rPr>
              <a:t>Ishan Roy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372160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49E"/>
                </a:solidFill>
              </a:rPr>
              <a:t>Reg. No.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3977640"/>
            <a:ext cx="4572000" cy="1828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" y="372160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</a:rPr>
              <a:t>2427030386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410565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49E"/>
                </a:solidFill>
              </a:rPr>
              <a:t>Guide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4361688"/>
            <a:ext cx="4572000" cy="1828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0160" y="4105656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0F6FC"/>
                </a:solidFill>
              </a:rPr>
              <a:t>Dr. Ridhi Arora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2340" y="868680"/>
            <a:ext cx="411480" cy="411480"/>
          </a:xfrm>
          <a:prstGeom prst="rect">
            <a:avLst/>
          </a:prstGeom>
        </p:spPr>
      </p:pic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0280" y="3337560"/>
            <a:ext cx="411480" cy="411480"/>
          </a:xfrm>
          <a:prstGeom prst="rect">
            <a:avLst/>
          </a:prstGeom>
        </p:spPr>
      </p:pic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2340" y="205740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0" y="48463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Manipal University Jaipur  ·  Department of Computer Science &amp; Engineering  ·  Jan–May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B25F0B9-08EE-67BF-B554-1C5F650C182E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pic>
        <p:nvPicPr>
          <p:cNvPr id="3" name="Image 0" descr="/mnt/user-data/uploads/Screenshot_2026-04-13_083931.png">
            <a:extLst>
              <a:ext uri="{FF2B5EF4-FFF2-40B4-BE49-F238E27FC236}">
                <a16:creationId xmlns:a16="http://schemas.microsoft.com/office/drawing/2014/main" id="{1364F627-F094-5A56-6225-37EC4D10D6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11200" y="494421"/>
            <a:ext cx="6751320" cy="4154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695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Challenge of Learning Music Theory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4023360" cy="141732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54864" cy="141732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20700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6FC"/>
                </a:solidFill>
              </a:rPr>
              <a:t>Abstract Notation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Traditional theory taught through static sheet music with no interactive feedback.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023360" cy="141732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141732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20700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6FC"/>
                </a:solidFill>
              </a:rPr>
              <a:t>Passive Learning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5544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Students listen but cannot see how chords connect geometrically or harmonically.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743200"/>
            <a:ext cx="4023360" cy="141732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743200"/>
            <a:ext cx="54864" cy="141732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529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6FC"/>
                </a:solidFill>
              </a:rPr>
              <a:t>No Real-Time Link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2004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Existing tools don't connect what you play to theory instantly.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41732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743200"/>
            <a:ext cx="54864" cy="141732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28529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6FC"/>
                </a:solidFill>
              </a:rPr>
              <a:t>Tool Gap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32004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</a:rPr>
              <a:t>Apps like GarageBand focus on production, not chord theory education.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1A2D1A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480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0F6FC"/>
                </a:solidFill>
              </a:rPr>
              <a:t>Our Goal: Transform abstract chord relationships into an interactive real-time visual experience that bridges the gap between playing and understanding.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0EAB96-A0A6-8FE5-F76B-12BD5C0A4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3987" y="0"/>
            <a:ext cx="397602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003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Current Tools: Strengths and Gaps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697480" cy="137160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2697480" cy="256032"/>
          </a:xfrm>
          <a:prstGeom prst="rect">
            <a:avLst/>
          </a:prstGeom>
          <a:solidFill>
            <a:srgbClr val="378ADD">
              <a:alpha val="15000"/>
            </a:srgbClr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78992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8ADD"/>
                </a:solidFill>
              </a:rPr>
              <a:t>GarageBand</a:t>
            </a:r>
            <a:endParaRPr lang="en-US" sz="12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389888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136245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6FC"/>
                </a:solidFill>
              </a:rPr>
              <a:t>User-friendly, widely used</a:t>
            </a:r>
            <a:endParaRPr lang="en-US" sz="9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709928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58368" y="1682496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Music production focused — no chord theory education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154680" y="1051560"/>
            <a:ext cx="2697480" cy="137160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154680" y="1051560"/>
            <a:ext cx="2697480" cy="256032"/>
          </a:xfrm>
          <a:prstGeom prst="rect">
            <a:avLst/>
          </a:prstGeom>
          <a:solidFill>
            <a:srgbClr val="EF9F27">
              <a:alpha val="15000"/>
            </a:srgbClr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91840" y="1078992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9F27"/>
                </a:solidFill>
              </a:rPr>
              <a:t>Ableton Live</a:t>
            </a:r>
            <a:endParaRPr lang="en-US" sz="12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4408" y="1389888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538728" y="136245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6FC"/>
                </a:solidFill>
              </a:rPr>
              <a:t>Professional composition &amp; performance tool</a:t>
            </a:r>
            <a:endParaRPr lang="en-US" sz="9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1709928"/>
            <a:ext cx="201168" cy="20116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538728" y="1682496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No interactive theory teaching, requires paid licence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6035040" y="1051560"/>
            <a:ext cx="2697480" cy="137160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035040" y="1051560"/>
            <a:ext cx="2697480" cy="256032"/>
          </a:xfrm>
          <a:prstGeom prst="rect">
            <a:avLst/>
          </a:prstGeom>
          <a:solidFill>
            <a:srgbClr val="9B59B6">
              <a:alpha val="15000"/>
            </a:srgbClr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172200" y="1078992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59B6"/>
                </a:solidFill>
              </a:rPr>
              <a:t>Hooktheory</a:t>
            </a:r>
            <a:endParaRPr lang="en-US" sz="12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389888"/>
            <a:ext cx="201168" cy="2011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19088" y="136245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6FC"/>
                </a:solidFill>
              </a:rPr>
              <a:t>Good chord progression learning resource</a:t>
            </a:r>
            <a:endParaRPr lang="en-US" sz="95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709928"/>
            <a:ext cx="201168" cy="201168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419088" y="1682496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Analysis tool only — no live microphone detection</a:t>
            </a:r>
            <a:endParaRPr lang="en-US" sz="950" dirty="0"/>
          </a:p>
        </p:txBody>
      </p:sp>
      <p:sp>
        <p:nvSpPr>
          <p:cNvPr id="25" name="Shape 17"/>
          <p:cNvSpPr/>
          <p:nvPr/>
        </p:nvSpPr>
        <p:spPr>
          <a:xfrm>
            <a:off x="777240" y="2606040"/>
            <a:ext cx="4206240" cy="137160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777240" y="2606040"/>
            <a:ext cx="4206240" cy="256032"/>
          </a:xfrm>
          <a:prstGeom prst="rect">
            <a:avLst/>
          </a:prstGeom>
          <a:solidFill>
            <a:srgbClr val="E24B4A">
              <a:alpha val="15000"/>
            </a:srgbClr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14400" y="263347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4B4A"/>
                </a:solidFill>
              </a:rPr>
              <a:t>Yousician</a:t>
            </a:r>
            <a:endParaRPr lang="en-US" sz="1200" dirty="0"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944368"/>
            <a:ext cx="201168" cy="20116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161288" y="2916936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6FC"/>
                </a:solidFill>
              </a:rPr>
              <a:t>Game-like lessons, wide instrument coverage</a:t>
            </a:r>
            <a:endParaRPr lang="en-US" sz="950" dirty="0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264408"/>
            <a:ext cx="201168" cy="201168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1161288" y="3236976"/>
            <a:ext cx="3703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Subscription paywall, no circle of fifths or theory depth</a:t>
            </a:r>
            <a:endParaRPr lang="en-US" sz="950" dirty="0"/>
          </a:p>
        </p:txBody>
      </p:sp>
      <p:sp>
        <p:nvSpPr>
          <p:cNvPr id="32" name="Shape 22"/>
          <p:cNvSpPr/>
          <p:nvPr/>
        </p:nvSpPr>
        <p:spPr>
          <a:xfrm>
            <a:off x="5257800" y="2606040"/>
            <a:ext cx="3220720" cy="137160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Shape 23"/>
          <p:cNvSpPr/>
          <p:nvPr/>
        </p:nvSpPr>
        <p:spPr>
          <a:xfrm>
            <a:off x="5257800" y="2606040"/>
            <a:ext cx="3220720" cy="256032"/>
          </a:xfrm>
          <a:prstGeom prst="rect">
            <a:avLst/>
          </a:prstGeom>
          <a:solidFill>
            <a:srgbClr val="1D9E75">
              <a:alpha val="15000"/>
            </a:srgbClr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5394960" y="263347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</a:rPr>
              <a:t>GuitarTuna</a:t>
            </a:r>
            <a:endParaRPr lang="en-US" sz="1200" dirty="0"/>
          </a:p>
        </p:txBody>
      </p:sp>
      <p:pic>
        <p:nvPicPr>
          <p:cNvPr id="35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7528" y="2944368"/>
            <a:ext cx="201168" cy="201168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5641848" y="2916936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0F6FC"/>
                </a:solidFill>
              </a:rPr>
              <a:t>Excellent chromatic tuner, widely used</a:t>
            </a:r>
            <a:endParaRPr lang="en-US" sz="950" dirty="0"/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8" y="3264408"/>
            <a:ext cx="201168" cy="201168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5641848" y="3236976"/>
            <a:ext cx="37033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Tuner only — no chord detection or theory content</a:t>
            </a:r>
            <a:endParaRPr lang="en-US" sz="950" dirty="0"/>
          </a:p>
        </p:txBody>
      </p:sp>
      <p:sp>
        <p:nvSpPr>
          <p:cNvPr id="39" name="Text 27"/>
          <p:cNvSpPr/>
          <p:nvPr/>
        </p:nvSpPr>
        <p:spPr>
          <a:xfrm>
            <a:off x="274320" y="449884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949E"/>
                </a:solidFill>
              </a:rPr>
              <a:t>Research finding: Visual learning increases retention by up to 65% vs text-only — yet interactive real-time theory tools remain largely absent from the market.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Built</a:t>
            </a:r>
            <a:endParaRPr lang="en-US" sz="2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051560"/>
            <a:ext cx="292608" cy="2926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650992" y="1005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</a:rPr>
              <a:t>Live Chord Detection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50992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Microphone → FFT → identifies chord in real-time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5257800" y="1627632"/>
            <a:ext cx="35661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719072"/>
            <a:ext cx="292608" cy="2926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650992" y="167335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9F27"/>
                </a:solidFill>
              </a:rPr>
              <a:t>Noise Gate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5650992" y="19476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Adjustable RMS threshold blocks ambient noise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144"/>
            <a:ext cx="35661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2386584"/>
            <a:ext cx="292608" cy="29260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650992" y="2340864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8ADD"/>
                </a:solidFill>
              </a:rPr>
              <a:t>Chord Hold Timer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5650992" y="261518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Keeps last chord visible after signal fades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5257800" y="2962656"/>
            <a:ext cx="35661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054096"/>
            <a:ext cx="292608" cy="29260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650992" y="300837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</a:rPr>
              <a:t>Circle of Fifths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5650992" y="328269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Interactive SVG — auto-syncs to detected chord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5257800" y="3630168"/>
            <a:ext cx="35661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7800" y="3721608"/>
            <a:ext cx="292608" cy="29260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5650992" y="367588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4B4A"/>
                </a:solidFill>
              </a:rPr>
              <a:t>Guitar Tuner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5650992" y="39502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Autocorrelation pitch detection per string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5257800" y="4297680"/>
            <a:ext cx="3566160" cy="0"/>
          </a:xfrm>
          <a:prstGeom prst="line">
            <a:avLst/>
          </a:prstGeom>
          <a:noFill/>
          <a:ln w="6350">
            <a:solidFill>
              <a:srgbClr val="2D3748"/>
            </a:solidFill>
            <a:prstDash val="solid"/>
          </a:ln>
        </p:spPr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389120"/>
            <a:ext cx="292608" cy="29260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5650992" y="43434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9F27"/>
                </a:solidFill>
              </a:rPr>
              <a:t>Confidence Score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5650992" y="4617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Shows match certainty with progress bar</a:t>
            </a:r>
            <a:endParaRPr 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274320" y="4114800"/>
            <a:ext cx="1371600" cy="274320"/>
          </a:xfrm>
          <a:prstGeom prst="roundRect">
            <a:avLst>
              <a:gd name="adj" fmla="val 26667"/>
            </a:avLst>
          </a:prstGeom>
          <a:solidFill>
            <a:srgbClr val="1D9E75">
              <a:alpha val="20000"/>
            </a:srgbClr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27432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D9E75"/>
                </a:solidFill>
              </a:rPr>
              <a:t>Single HTML File</a:t>
            </a:r>
            <a:endParaRPr lang="en-US" sz="900" dirty="0"/>
          </a:p>
        </p:txBody>
      </p:sp>
      <p:sp>
        <p:nvSpPr>
          <p:cNvPr id="30" name="Shape 21"/>
          <p:cNvSpPr/>
          <p:nvPr/>
        </p:nvSpPr>
        <p:spPr>
          <a:xfrm>
            <a:off x="1783080" y="4114800"/>
            <a:ext cx="1371600" cy="274320"/>
          </a:xfrm>
          <a:prstGeom prst="roundRect">
            <a:avLst>
              <a:gd name="adj" fmla="val 26667"/>
            </a:avLst>
          </a:prstGeom>
          <a:solidFill>
            <a:srgbClr val="EF9F27">
              <a:alpha val="20000"/>
            </a:srgbClr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178308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9F27"/>
                </a:solidFill>
              </a:rPr>
              <a:t>No Libraries</a:t>
            </a:r>
            <a:endParaRPr lang="en-US" sz="900" dirty="0"/>
          </a:p>
        </p:txBody>
      </p:sp>
      <p:sp>
        <p:nvSpPr>
          <p:cNvPr id="32" name="Shape 23"/>
          <p:cNvSpPr/>
          <p:nvPr/>
        </p:nvSpPr>
        <p:spPr>
          <a:xfrm>
            <a:off x="3246120" y="4114800"/>
            <a:ext cx="1371600" cy="274320"/>
          </a:xfrm>
          <a:prstGeom prst="roundRect">
            <a:avLst>
              <a:gd name="adj" fmla="val 26667"/>
            </a:avLst>
          </a:prstGeom>
          <a:solidFill>
            <a:srgbClr val="378ADD">
              <a:alpha val="20000"/>
            </a:srgbClr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324612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78ADD"/>
                </a:solidFill>
              </a:rPr>
              <a:t>Zero Install</a:t>
            </a:r>
            <a:endParaRPr lang="en-US" sz="900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135B9B09-F04B-BF5F-2C31-38B7FF98CD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4320" y="1005841"/>
            <a:ext cx="4646227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 — Signal Processing Pipeline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94360" y="1005840"/>
            <a:ext cx="822960" cy="822960"/>
          </a:xfrm>
          <a:prstGeom prst="ellipse">
            <a:avLst/>
          </a:prstGeom>
          <a:solidFill>
            <a:srgbClr val="1D9E75">
              <a:alpha val="20000"/>
            </a:srgbClr>
          </a:solidFill>
          <a:ln w="12700">
            <a:solidFill>
              <a:srgbClr val="1D9E75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197864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10058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2860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6FC"/>
                </a:solidFill>
              </a:rPr>
              <a:t>Microphone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28600" y="2240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getUserMedia()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Stream capture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463040" y="1417320"/>
            <a:ext cx="457200" cy="0"/>
          </a:xfrm>
          <a:prstGeom prst="line">
            <a:avLst/>
          </a:prstGeom>
          <a:noFill/>
          <a:ln w="19050">
            <a:solidFill>
              <a:srgbClr val="1D9E75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2057400" y="1005840"/>
            <a:ext cx="822960" cy="822960"/>
          </a:xfrm>
          <a:prstGeom prst="ellipse">
            <a:avLst/>
          </a:prstGeom>
          <a:solidFill>
            <a:srgbClr val="378ADD">
              <a:alpha val="20000"/>
            </a:srgbClr>
          </a:solidFill>
          <a:ln w="12700">
            <a:solidFill>
              <a:srgbClr val="378ADD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79576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57400" y="10058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69164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6FC"/>
                </a:solidFill>
              </a:rPr>
              <a:t>FFT Analysis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1691640" y="2240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8192-point FFT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~5 Hz/bin resolution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2926080" y="1417320"/>
            <a:ext cx="457200" cy="0"/>
          </a:xfrm>
          <a:prstGeom prst="line">
            <a:avLst/>
          </a:prstGeom>
          <a:noFill/>
          <a:ln w="19050">
            <a:solidFill>
              <a:srgbClr val="1D9E75"/>
            </a:solidFill>
            <a:prstDash val="dash"/>
          </a:ln>
        </p:spPr>
      </p:sp>
      <p:sp>
        <p:nvSpPr>
          <p:cNvPr id="16" name="Shape 12"/>
          <p:cNvSpPr/>
          <p:nvPr/>
        </p:nvSpPr>
        <p:spPr>
          <a:xfrm>
            <a:off x="3520440" y="1005840"/>
            <a:ext cx="822960" cy="822960"/>
          </a:xfrm>
          <a:prstGeom prst="ellipse">
            <a:avLst/>
          </a:prstGeom>
          <a:solidFill>
            <a:srgbClr val="EF9F27">
              <a:alpha val="20000"/>
            </a:srgbClr>
          </a:solidFill>
          <a:ln w="12700">
            <a:solidFill>
              <a:srgbClr val="EF9F27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1608" y="1207008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520440" y="10058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315468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6FC"/>
                </a:solidFill>
              </a:rPr>
              <a:t>Peak Detection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154680" y="2240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Local maxima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Parabolic interpolation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4389120" y="1417320"/>
            <a:ext cx="457200" cy="0"/>
          </a:xfrm>
          <a:prstGeom prst="line">
            <a:avLst/>
          </a:prstGeom>
          <a:noFill/>
          <a:ln w="19050">
            <a:solidFill>
              <a:srgbClr val="1D9E75"/>
            </a:solidFill>
            <a:prstDash val="dash"/>
          </a:ln>
        </p:spPr>
      </p:sp>
      <p:sp>
        <p:nvSpPr>
          <p:cNvPr id="22" name="Shape 17"/>
          <p:cNvSpPr/>
          <p:nvPr/>
        </p:nvSpPr>
        <p:spPr>
          <a:xfrm>
            <a:off x="4983480" y="1005840"/>
            <a:ext cx="822960" cy="822960"/>
          </a:xfrm>
          <a:prstGeom prst="ellipse">
            <a:avLst/>
          </a:prstGeom>
          <a:solidFill>
            <a:srgbClr val="9B59B6">
              <a:alpha val="20000"/>
            </a:srgbClr>
          </a:solidFill>
          <a:ln w="12700">
            <a:solidFill>
              <a:srgbClr val="9B59B6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648" y="1231392"/>
            <a:ext cx="420624" cy="4206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983480" y="10058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61772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6FC"/>
                </a:solidFill>
              </a:rPr>
              <a:t>Harmonic Filter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617720" y="2240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Remove overtones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Integer ratio test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5852160" y="1417320"/>
            <a:ext cx="457200" cy="0"/>
          </a:xfrm>
          <a:prstGeom prst="line">
            <a:avLst/>
          </a:prstGeom>
          <a:noFill/>
          <a:ln w="19050">
            <a:solidFill>
              <a:srgbClr val="1D9E75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6446520" y="1005840"/>
            <a:ext cx="822960" cy="822960"/>
          </a:xfrm>
          <a:prstGeom prst="ellipse">
            <a:avLst/>
          </a:prstGeom>
          <a:solidFill>
            <a:srgbClr val="1D9E75">
              <a:alpha val="20000"/>
            </a:srgbClr>
          </a:solidFill>
          <a:ln w="12700">
            <a:solidFill>
              <a:srgbClr val="1D9E75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7208" y="1194816"/>
            <a:ext cx="420624" cy="42062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446520" y="10058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608076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6FC"/>
                </a:solidFill>
              </a:rPr>
              <a:t>Note Profile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6080760" y="2240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Weighted mapping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to 12 note names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7315200" y="1417320"/>
            <a:ext cx="457200" cy="0"/>
          </a:xfrm>
          <a:prstGeom prst="line">
            <a:avLst/>
          </a:prstGeom>
          <a:noFill/>
          <a:ln w="19050">
            <a:solidFill>
              <a:srgbClr val="1D9E75"/>
            </a:solidFill>
            <a:prstDash val="dash"/>
          </a:ln>
        </p:spPr>
      </p:sp>
      <p:sp>
        <p:nvSpPr>
          <p:cNvPr id="34" name="Shape 27"/>
          <p:cNvSpPr/>
          <p:nvPr/>
        </p:nvSpPr>
        <p:spPr>
          <a:xfrm>
            <a:off x="7909560" y="1005840"/>
            <a:ext cx="822960" cy="822960"/>
          </a:xfrm>
          <a:prstGeom prst="ellipse">
            <a:avLst/>
          </a:prstGeom>
          <a:solidFill>
            <a:srgbClr val="E24B4A">
              <a:alpha val="20000"/>
            </a:srgbClr>
          </a:solidFill>
          <a:ln w="12700">
            <a:solidFill>
              <a:srgbClr val="E24B4A"/>
            </a:solidFill>
            <a:prstDash val="solid"/>
          </a:ln>
        </p:spPr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0728" y="1170432"/>
            <a:ext cx="420624" cy="42062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909560" y="100584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7543800" y="19202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6FC"/>
                </a:solidFill>
              </a:rPr>
              <a:t>Chord Match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7543800" y="22402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Score 37 chords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10-frame confirmation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274320" y="2926080"/>
            <a:ext cx="4114800" cy="100584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274320" y="2926080"/>
            <a:ext cx="54864" cy="100584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502920" y="29992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9F27"/>
                </a:solidFill>
              </a:rPr>
              <a:t>Noise Gate (RMS)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502920" y="3291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Smoothed RMS = 0.85 × prev + 0.15 × current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If RMS &lt; threshold → skip detection entirely → prevents false chords from room noise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4754880" y="2926080"/>
            <a:ext cx="4114800" cy="100584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4754880" y="2926080"/>
            <a:ext cx="54864" cy="100584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5" name="Text 37"/>
          <p:cNvSpPr/>
          <p:nvPr/>
        </p:nvSpPr>
        <p:spPr>
          <a:xfrm>
            <a:off x="4983480" y="29992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8ADD"/>
                </a:solidFill>
              </a:rPr>
              <a:t>Confirmation Buffer</a:t>
            </a:r>
            <a:endParaRPr lang="en-US" sz="1200" dirty="0"/>
          </a:p>
        </p:txBody>
      </p:sp>
      <p:sp>
        <p:nvSpPr>
          <p:cNvPr id="46" name="Text 38"/>
          <p:cNvSpPr/>
          <p:nvPr/>
        </p:nvSpPr>
        <p:spPr>
          <a:xfrm>
            <a:off x="4983480" y="3291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Chord must appear consistently for 10 frames (~160 ms)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before display updates → eliminates major/minor flickering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Circle of Fifths — Theory Panel</a:t>
            </a:r>
            <a:endParaRPr lang="en-US" sz="2600" dirty="0"/>
          </a:p>
        </p:txBody>
      </p:sp>
      <p:pic>
        <p:nvPicPr>
          <p:cNvPr id="4" name="Image 0" descr="/mnt/user-data/uploads/circle_of_fifth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" y="914400"/>
            <a:ext cx="347472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14800" y="960120"/>
            <a:ext cx="54864" cy="6583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315968" y="960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</a:rPr>
              <a:t>Auto-Sync to Detected Chord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15968" y="1234440"/>
            <a:ext cx="45720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When a chord is confirmed, the corresponding key lights up on the SVG circle automatically.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114800" y="1764792"/>
            <a:ext cx="54864" cy="65836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15968" y="17647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9F27"/>
                </a:solidFill>
              </a:rPr>
              <a:t>Outer Ring = Major Keys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315968" y="2039112"/>
            <a:ext cx="45720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12 major keys arranged clockwise by perfect fifth intervals. Each clockwise step adds one sharp.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114800" y="2569464"/>
            <a:ext cx="54864" cy="65836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15968" y="25694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8ADD"/>
                </a:solidFill>
              </a:rPr>
              <a:t>Inner Ring = Relative Minors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315968" y="2843784"/>
            <a:ext cx="45720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Each minor key sits directly inside its relative major, sharing the same key signature.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0" y="3374136"/>
            <a:ext cx="54864" cy="65836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15968" y="337413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B59B6"/>
                </a:solidFill>
              </a:rPr>
              <a:t>Theory Card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315968" y="3648456"/>
            <a:ext cx="45720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Shows dominant, subdominant, relative key, diatonic chords, key signature, scale notes, and common progressions.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0" y="4178808"/>
            <a:ext cx="54864" cy="658368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15968" y="41788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24B4A"/>
                </a:solidFill>
              </a:rPr>
              <a:t>Click Any Node Manually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315968" y="4453128"/>
            <a:ext cx="45720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Users can override auto-detection for 8 seconds to explore any key independently.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Features — Noise Gate &amp; Chord Hold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56616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05840"/>
            <a:ext cx="54864" cy="356616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9728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11556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9F27"/>
                </a:solidFill>
              </a:rPr>
              <a:t>Noise Gate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1600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6FC"/>
                </a:solidFill>
              </a:rPr>
              <a:t>Problem it solves: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" y="18745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Without a gate, room noise and microphone hiss cause constant false chord detections even when no guitar is being played.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02920" y="2606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6FC"/>
                </a:solidFill>
              </a:rPr>
              <a:t>How it works: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2907792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1. Compute RMS of time-domain buffer each frame
2. Apply exponential smoothing (α = 0.15)
3. If below adjustable threshold (1–60%): skip FFT
4. Level meter shows real-time signal vs threshold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754880" y="1005840"/>
            <a:ext cx="4114800" cy="356616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1005840"/>
            <a:ext cx="54864" cy="356616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0972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40680" y="111556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78ADD"/>
                </a:solidFill>
              </a:rPr>
              <a:t>Chord Hold Timer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983480" y="1600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6FC"/>
                </a:solidFill>
              </a:rPr>
              <a:t>Problem it solves: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983480" y="18745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Chord display used to clear instantly when strumming stopped, making it impossible to read the detected chord before the next strum.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983480" y="2606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6FC"/>
                </a:solidFill>
              </a:rPr>
              <a:t>How it works: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983480" y="2907792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1. Gate closes → confirmed chord enters 'hold' state
2. Amber countdown bar depletes over hold duration
3. User-adjustable hold: 0.5 s – 5 s (default 2 s)
4. New chord automatically cancels the hold timer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Built-In Guitar Tuner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6FC"/>
                </a:solidFill>
              </a:rPr>
              <a:t>Standard Tuning Reference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474720" cy="420624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813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E2 (6th)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60320" y="148132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D9E75"/>
                </a:solidFill>
              </a:rPr>
              <a:t>82.41 Hz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9384"/>
            <a:ext cx="3474720" cy="420624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933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A2 (5th)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60320" y="19933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D9E75"/>
                </a:solidFill>
              </a:rPr>
              <a:t>110.0 Hz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41448"/>
            <a:ext cx="3474720" cy="420624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50545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D3 (4th)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250545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D9E75"/>
                </a:solidFill>
              </a:rPr>
              <a:t>146.83 Hz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53512"/>
            <a:ext cx="3474720" cy="420624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017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G3 (3rd)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560320" y="30175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D9E75"/>
                </a:solidFill>
              </a:rPr>
              <a:t>196.0 Hz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65576"/>
            <a:ext cx="3474720" cy="420624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52958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B3 (2nd)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60320" y="352958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D9E75"/>
                </a:solidFill>
              </a:rPr>
              <a:t>246.94 Hz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3474720" cy="420624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04164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E4 (1st)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560320" y="404164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D9E75"/>
                </a:solidFill>
              </a:rPr>
              <a:t>329.63 Hz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63440" y="10058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6FC"/>
                </a:solidFill>
              </a:rPr>
              <a:t>Pitch Detection Technique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63440" y="1417320"/>
            <a:ext cx="4206240" cy="77724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1417320"/>
            <a:ext cx="54864" cy="7772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64608" y="14721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Autocorrelation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64608" y="174650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Measures similarity of signal with time-shifted copy → finds period → derives frequency. Best for sustained notes.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286000"/>
            <a:ext cx="4206240" cy="77724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2286000"/>
            <a:ext cx="54864" cy="77724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64608" y="23408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9F27"/>
                </a:solidFill>
              </a:rPr>
              <a:t>FFT Peak Detection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64608" y="261518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Finds dominant frequency bin in 70–360 Hz range. Best for attack phase of plucked strings.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154680"/>
            <a:ext cx="4206240" cy="77724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3154680"/>
            <a:ext cx="54864" cy="77724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64608" y="320954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Combined Estimate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64608" y="34838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Both methods run simultaneously. If they agree within 35 cents → averaged. Otherwise FFT peak trusted.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63440" y="4023360"/>
            <a:ext cx="4206240" cy="777240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63440" y="4023360"/>
            <a:ext cx="54864" cy="77724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64608" y="407822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9F27"/>
                </a:solidFill>
              </a:rPr>
              <a:t>Median Smoothing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864608" y="435254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Last 5 pitch readings sorted, median selected → eliminates single-frame outliers from noise.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Comparison with Existing Tools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1005840"/>
            <a:ext cx="2286000" cy="347472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0058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0F6FC"/>
                </a:solidFill>
              </a:rPr>
              <a:t>Feature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560320" y="1005840"/>
            <a:ext cx="1737360" cy="347472"/>
          </a:xfrm>
          <a:prstGeom prst="rect">
            <a:avLst/>
          </a:prstGeom>
          <a:solidFill>
            <a:srgbClr val="1D9E75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0" y="1005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117"/>
                </a:solidFill>
              </a:rPr>
              <a:t>Our Tool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34256" y="1005840"/>
            <a:ext cx="1280160" cy="347472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34256" y="10058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6FC"/>
                </a:solidFill>
              </a:rPr>
              <a:t>GuitarTuna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0136" y="1005840"/>
            <a:ext cx="1280160" cy="347472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0136" y="10058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6FC"/>
                </a:solidFill>
              </a:rPr>
              <a:t>Yousician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86016" y="1005840"/>
            <a:ext cx="1371600" cy="347472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86016" y="10058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6FC"/>
                </a:solidFill>
              </a:rPr>
              <a:t>Hooktheory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8600" y="1371600"/>
            <a:ext cx="228600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" y="1371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9F27"/>
                </a:solidFill>
              </a:rPr>
              <a:t>Live chord detection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0" y="1371600"/>
            <a:ext cx="1737360" cy="411480"/>
          </a:xfrm>
          <a:prstGeom prst="rect">
            <a:avLst/>
          </a:prstGeom>
          <a:solidFill>
            <a:srgbClr val="162D1E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1371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34256" y="1371600"/>
            <a:ext cx="128016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34256" y="13716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0136" y="1371600"/>
            <a:ext cx="128016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0136" y="13716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9F27"/>
                </a:solidFill>
              </a:rPr>
              <a:t>✓ (basic)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986016" y="1371600"/>
            <a:ext cx="137160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86016" y="13716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28600" y="1810512"/>
            <a:ext cx="228600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181051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9F27"/>
                </a:solidFill>
              </a:rPr>
              <a:t>Guitar tuner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1810512"/>
            <a:ext cx="1737360" cy="411480"/>
          </a:xfrm>
          <a:prstGeom prst="rect">
            <a:avLst/>
          </a:prstGeom>
          <a:solidFill>
            <a:srgbClr val="162D1E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60320" y="181051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34256" y="1810512"/>
            <a:ext cx="128016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34256" y="181051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0136" y="1810512"/>
            <a:ext cx="128016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0136" y="181051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986016" y="1810512"/>
            <a:ext cx="137160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86016" y="18105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28600" y="2249424"/>
            <a:ext cx="228600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24942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9F27"/>
                </a:solidFill>
              </a:rPr>
              <a:t>Circle of Fifths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560320" y="2249424"/>
            <a:ext cx="1737360" cy="411480"/>
          </a:xfrm>
          <a:prstGeom prst="rect">
            <a:avLst/>
          </a:prstGeom>
          <a:solidFill>
            <a:srgbClr val="162D1E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224942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334256" y="2249424"/>
            <a:ext cx="128016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4256" y="22494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0136" y="2249424"/>
            <a:ext cx="128016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0136" y="22494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986016" y="2249424"/>
            <a:ext cx="137160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986016" y="22494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9F27"/>
                </a:solidFill>
              </a:rPr>
              <a:t>✓ (static)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28600" y="2688336"/>
            <a:ext cx="228600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28600" y="268833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9F27"/>
                </a:solidFill>
              </a:rPr>
              <a:t>Noise gate control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60320" y="2688336"/>
            <a:ext cx="1737360" cy="411480"/>
          </a:xfrm>
          <a:prstGeom prst="rect">
            <a:avLst/>
          </a:prstGeom>
          <a:solidFill>
            <a:srgbClr val="162D1E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60320" y="268833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334256" y="2688336"/>
            <a:ext cx="128016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34256" y="2688336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660136" y="2688336"/>
            <a:ext cx="128016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0136" y="2688336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986016" y="2688336"/>
            <a:ext cx="137160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986016" y="26883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28600" y="3127248"/>
            <a:ext cx="228600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" y="31272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9F27"/>
                </a:solidFill>
              </a:rPr>
              <a:t>Theory card per key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560320" y="3127248"/>
            <a:ext cx="1737360" cy="411480"/>
          </a:xfrm>
          <a:prstGeom prst="rect">
            <a:avLst/>
          </a:prstGeom>
          <a:solidFill>
            <a:srgbClr val="162D1E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60320" y="31272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334256" y="3127248"/>
            <a:ext cx="128016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334256" y="312724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5660136" y="3127248"/>
            <a:ext cx="128016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660136" y="3127248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986016" y="3127248"/>
            <a:ext cx="137160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312724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228600" y="3566160"/>
            <a:ext cx="228600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28600" y="3566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9F27"/>
                </a:solidFill>
              </a:rPr>
              <a:t>Chord hold timer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560320" y="3566160"/>
            <a:ext cx="1737360" cy="411480"/>
          </a:xfrm>
          <a:prstGeom prst="rect">
            <a:avLst/>
          </a:prstGeom>
          <a:solidFill>
            <a:srgbClr val="162D1E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560320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4334256" y="3566160"/>
            <a:ext cx="128016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334256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5660136" y="3566160"/>
            <a:ext cx="128016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660136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6986016" y="3566160"/>
            <a:ext cx="137160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986016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28600" y="4005072"/>
            <a:ext cx="228600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28600" y="40050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9F27"/>
                </a:solidFill>
              </a:rPr>
              <a:t>Free / no install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2560320" y="4005072"/>
            <a:ext cx="1737360" cy="411480"/>
          </a:xfrm>
          <a:prstGeom prst="rect">
            <a:avLst/>
          </a:prstGeom>
          <a:solidFill>
            <a:srgbClr val="162D1E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560320" y="40050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4334256" y="4005072"/>
            <a:ext cx="128016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334256" y="40050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9F27"/>
                </a:solidFill>
              </a:rPr>
              <a:t>Freemium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5660136" y="4005072"/>
            <a:ext cx="128016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660136" y="40050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9F27"/>
                </a:solidFill>
              </a:rPr>
              <a:t>Paid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6986016" y="4005072"/>
            <a:ext cx="1371600" cy="411480"/>
          </a:xfrm>
          <a:prstGeom prst="rect">
            <a:avLst/>
          </a:prstGeom>
          <a:solidFill>
            <a:srgbClr val="1C2333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40050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9F27"/>
                </a:solidFill>
              </a:rPr>
              <a:t>Freemium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228600" y="4443984"/>
            <a:ext cx="228600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28600" y="444398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9F27"/>
                </a:solidFill>
              </a:rPr>
              <a:t>Works offline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560320" y="4443984"/>
            <a:ext cx="1737360" cy="411480"/>
          </a:xfrm>
          <a:prstGeom prst="rect">
            <a:avLst/>
          </a:prstGeom>
          <a:solidFill>
            <a:srgbClr val="162D1E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560320" y="444398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4334256" y="4443984"/>
            <a:ext cx="128016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334256" y="44439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D9E75"/>
                </a:solidFill>
              </a:rPr>
              <a:t>✓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5660136" y="4443984"/>
            <a:ext cx="128016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660136" y="44439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6986016" y="4443984"/>
            <a:ext cx="1371600" cy="411480"/>
          </a:xfrm>
          <a:prstGeom prst="rect">
            <a:avLst/>
          </a:prstGeom>
          <a:solidFill>
            <a:srgbClr val="161B22"/>
          </a:solidFill>
          <a:ln w="6350">
            <a:solidFill>
              <a:srgbClr val="2D374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986016" y="444398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✗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&amp;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F6FC"/>
                </a:solidFill>
              </a:rPr>
              <a:t>Detection Accuracy — Common Chords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G major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03120" y="1508760"/>
            <a:ext cx="2743200" cy="20116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03120" y="1508760"/>
            <a:ext cx="2578608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41732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94%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911096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A minor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03120" y="2002536"/>
            <a:ext cx="2743200" cy="20116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03120" y="2002536"/>
            <a:ext cx="249631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911096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91%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240487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E minor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03120" y="2496312"/>
            <a:ext cx="2743200" cy="20116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03120" y="2496312"/>
            <a:ext cx="2441448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404872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89%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2898648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C major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03120" y="2990088"/>
            <a:ext cx="2743200" cy="20116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03120" y="2990088"/>
            <a:ext cx="2386584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2898648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3392424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D major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103120" y="3483864"/>
            <a:ext cx="2743200" cy="20116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03120" y="3483864"/>
            <a:ext cx="2249424" cy="20116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3392424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9F27"/>
                </a:solidFill>
              </a:rPr>
              <a:t>82%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65760" y="388620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6FC"/>
                </a:solidFill>
              </a:rPr>
              <a:t>F major (barre)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03120" y="3977640"/>
            <a:ext cx="2743200" cy="20116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03120" y="3977640"/>
            <a:ext cx="1865376" cy="201168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37760" y="3886200"/>
            <a:ext cx="548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4B4A"/>
                </a:solidFill>
              </a:rPr>
              <a:t>68%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77840" y="1005840"/>
            <a:ext cx="3291840" cy="713232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1133856"/>
            <a:ext cx="274320" cy="27432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053328" y="105156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Noise gate works well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87568" y="1353312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Prevents &gt;95% of false detections in quiet room conditions with gate at 15%.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577840" y="1810512"/>
            <a:ext cx="3291840" cy="713232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3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1938528"/>
            <a:ext cx="274320" cy="27432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053328" y="185623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Confirmation buffer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5687568" y="2157984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Eliminated major/minor flickering completely in all 10 test sessions.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5577840" y="2615184"/>
            <a:ext cx="3291840" cy="713232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3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2743200"/>
            <a:ext cx="274320" cy="274320"/>
          </a:xfrm>
          <a:prstGeom prst="rect">
            <a:avLst/>
          </a:prstGeom>
        </p:spPr>
      </p:pic>
      <p:sp>
        <p:nvSpPr>
          <p:cNvPr id="39" name="Text 34"/>
          <p:cNvSpPr/>
          <p:nvPr/>
        </p:nvSpPr>
        <p:spPr>
          <a:xfrm>
            <a:off x="6053328" y="266090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Hold timer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5687568" y="2962656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100% of testers rated chord readability as 'improved' vs no hold.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5577840" y="3419856"/>
            <a:ext cx="3291840" cy="713232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547872"/>
            <a:ext cx="274320" cy="274320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6053328" y="346557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9F27"/>
                </a:solidFill>
              </a:rPr>
              <a:t>Barre chords harder</a:t>
            </a:r>
            <a:endParaRPr lang="en-US" sz="1100" dirty="0"/>
          </a:p>
        </p:txBody>
      </p:sp>
      <p:sp>
        <p:nvSpPr>
          <p:cNvPr id="44" name="Text 38"/>
          <p:cNvSpPr/>
          <p:nvPr/>
        </p:nvSpPr>
        <p:spPr>
          <a:xfrm>
            <a:off x="5687568" y="3767328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Complex voicings on built-in laptop mics drop accuracy to ~65–70%.</a:t>
            </a:r>
            <a:endParaRPr lang="en-US" sz="950" dirty="0"/>
          </a:p>
        </p:txBody>
      </p:sp>
      <p:sp>
        <p:nvSpPr>
          <p:cNvPr id="45" name="Shape 39"/>
          <p:cNvSpPr/>
          <p:nvPr/>
        </p:nvSpPr>
        <p:spPr>
          <a:xfrm>
            <a:off x="5577840" y="4224528"/>
            <a:ext cx="3291840" cy="713232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4352544"/>
            <a:ext cx="274320" cy="274320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6053328" y="427024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F9F27"/>
                </a:solidFill>
              </a:rPr>
              <a:t>Tuner accuracy ±3 cents</a:t>
            </a:r>
            <a:endParaRPr lang="en-US" sz="1100" dirty="0"/>
          </a:p>
        </p:txBody>
      </p:sp>
      <p:sp>
        <p:nvSpPr>
          <p:cNvPr id="48" name="Text 41"/>
          <p:cNvSpPr/>
          <p:nvPr/>
        </p:nvSpPr>
        <p:spPr>
          <a:xfrm>
            <a:off x="5687568" y="4572000"/>
            <a:ext cx="3017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Comparable to GuitarTuna on single sustained strings in quiet conditions.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Proposed Solution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8412480" cy="841248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243584"/>
            <a:ext cx="548640" cy="548640"/>
          </a:xfrm>
          <a:prstGeom prst="ellipse">
            <a:avLst/>
          </a:prstGeom>
          <a:solidFill>
            <a:srgbClr val="1D9E75">
              <a:alpha val="30000"/>
            </a:srgbClr>
          </a:solidFill>
          <a:ln w="19050">
            <a:solidFill>
              <a:srgbClr val="1D9E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435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D9E75"/>
                </a:solidFill>
              </a:rPr>
              <a:t>1</a:t>
            </a:r>
            <a:endParaRPr lang="en-US" sz="1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316736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37360" y="117043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9E75"/>
                </a:solidFill>
              </a:rPr>
              <a:t>Interactive Circle of Fifths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737360" y="1481328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SVG-rendered dynamic circle with auto-sync to detected chords, colour-coded states, and clickable nodes.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2057400"/>
            <a:ext cx="8412480" cy="841248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" y="2203704"/>
            <a:ext cx="548640" cy="548640"/>
          </a:xfrm>
          <a:prstGeom prst="ellipse">
            <a:avLst/>
          </a:prstGeom>
          <a:solidFill>
            <a:srgbClr val="378ADD">
              <a:alpha val="30000"/>
            </a:srgbClr>
          </a:solidFill>
          <a:ln w="19050">
            <a:solidFill>
              <a:srgbClr val="378AD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22037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78ADD"/>
                </a:solidFill>
              </a:rPr>
              <a:t>2</a:t>
            </a:r>
            <a:endParaRPr lang="en-US" sz="18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2276856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37360" y="213055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78ADD"/>
                </a:solidFill>
              </a:rPr>
              <a:t>Real-Time Audio Detection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737360" y="2441448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Web Audio API with 8192-point FFT, harmonic suppression, and weighted chord scoring across 37 chord types.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65760" y="3017520"/>
            <a:ext cx="8412480" cy="841248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02920" y="3163824"/>
            <a:ext cx="548640" cy="548640"/>
          </a:xfrm>
          <a:prstGeom prst="ellipse">
            <a:avLst/>
          </a:prstGeom>
          <a:solidFill>
            <a:srgbClr val="EF9F27">
              <a:alpha val="30000"/>
            </a:srgbClr>
          </a:solidFill>
          <a:ln w="19050">
            <a:solidFill>
              <a:srgbClr val="EF9F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02920" y="31638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F9F27"/>
                </a:solidFill>
              </a:rPr>
              <a:t>3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4440" y="3236976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737360" y="309067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9F27"/>
                </a:solidFill>
              </a:rPr>
              <a:t>Noise Gate + Hold System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Smoothed RMS gating prevents ambient noise false-positives; configurable hold timer keeps chord on screen.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365760" y="3977640"/>
            <a:ext cx="8412480" cy="841248"/>
          </a:xfrm>
          <a:prstGeom prst="rect">
            <a:avLst/>
          </a:prstGeom>
          <a:solidFill>
            <a:srgbClr val="1C2333"/>
          </a:solidFill>
          <a:ln w="12700">
            <a:solidFill>
              <a:srgbClr val="2D3748"/>
            </a:solidFill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02920" y="4123944"/>
            <a:ext cx="548640" cy="548640"/>
          </a:xfrm>
          <a:prstGeom prst="ellipse">
            <a:avLst/>
          </a:prstGeom>
          <a:solidFill>
            <a:srgbClr val="9B59B6">
              <a:alpha val="30000"/>
            </a:srgbClr>
          </a:solidFill>
          <a:ln w="19050">
            <a:solidFill>
              <a:srgbClr val="9B59B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502920" y="4123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B59B6"/>
                </a:solidFill>
              </a:rPr>
              <a:t>4</a:t>
            </a:r>
            <a:endParaRPr lang="en-US" sz="18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" y="4197096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737360" y="4050792"/>
            <a:ext cx="3200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9B6"/>
                </a:solidFill>
              </a:rPr>
              <a:t>Guitar Tuner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737360" y="4361688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Autocorrelation + FFT combined pitch detection, median smoothing, per-string matching for all 6 guitar strings.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320040"/>
            <a:ext cx="4114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Making Music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0F6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Theory Visual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274320" y="19202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9E75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4023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</a:rPr>
              <a:t>Real-time FFT analysis, harmonic suppression, and a 10-frame confirmation buffer combine to produce reliable chord detection entirely within a browser — no server, no libraries, no installation.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846320" y="9601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9F27"/>
                </a:solidFill>
              </a:rPr>
              <a:t>Future Work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1389888"/>
            <a:ext cx="201168" cy="201168"/>
          </a:xfrm>
          <a:prstGeom prst="ellipse">
            <a:avLst/>
          </a:prstGeom>
          <a:solidFill>
            <a:srgbClr val="EF9F27">
              <a:alpha val="40000"/>
            </a:srgbClr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66360" y="136245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</a:rPr>
              <a:t>ML-based chord classification (CNN on mel-spectrogram)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46320" y="1956816"/>
            <a:ext cx="201168" cy="201168"/>
          </a:xfrm>
          <a:prstGeom prst="ellipse">
            <a:avLst/>
          </a:prstGeom>
          <a:solidFill>
            <a:srgbClr val="EF9F27">
              <a:alpha val="40000"/>
            </a:srgbClr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192938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</a:rPr>
              <a:t>Extended chord library: sus2, sus4, augmented, jazz voicings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46320" y="2523744"/>
            <a:ext cx="201168" cy="201168"/>
          </a:xfrm>
          <a:prstGeom prst="ellipse">
            <a:avLst/>
          </a:prstGeom>
          <a:solidFill>
            <a:srgbClr val="EF9F27">
              <a:alpha val="40000"/>
            </a:srgbClr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6360" y="2496312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</a:rPr>
              <a:t>Chord progression detection (I–IV–V, ii–V–I patterns)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46320" y="3090672"/>
            <a:ext cx="201168" cy="201168"/>
          </a:xfrm>
          <a:prstGeom prst="ellipse">
            <a:avLst/>
          </a:prstGeom>
          <a:solidFill>
            <a:srgbClr val="EF9F27">
              <a:alpha val="40000"/>
            </a:srgbClr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306324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</a:rPr>
              <a:t>Capo and alternate tuning support (drop-D, open-G)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846320" y="3657600"/>
            <a:ext cx="201168" cy="201168"/>
          </a:xfrm>
          <a:prstGeom prst="ellipse">
            <a:avLst/>
          </a:prstGeom>
          <a:solidFill>
            <a:srgbClr val="EF9F27">
              <a:alpha val="40000"/>
            </a:srgbClr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66360" y="363016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</a:rPr>
              <a:t>Progressive Web App for offline mobile installation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46320" y="4224528"/>
            <a:ext cx="201168" cy="201168"/>
          </a:xfrm>
          <a:prstGeom prst="ellipse">
            <a:avLst/>
          </a:prstGeom>
          <a:solidFill>
            <a:srgbClr val="EF9F27">
              <a:alpha val="40000"/>
            </a:srgbClr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4197096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</a:rPr>
              <a:t>Visual spectrogram alongside the waveform display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A1A0A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0" y="47731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</a:rPr>
              <a:t>Manipal University Jaipur  ·  CSE  ·  PBL-4 End Term  ·  Jan–May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1205</Words>
  <Application>Microsoft Office PowerPoint</Application>
  <PresentationFormat>On-screen Show (16:9)</PresentationFormat>
  <Paragraphs>231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Guitar Chord Detection – End Term PBL</dc:title>
  <dc:subject>PptxGenJS Presentation</dc:subject>
  <dc:creator>PptxGenJS</dc:creator>
  <cp:lastModifiedBy>ISHAN ROY</cp:lastModifiedBy>
  <cp:revision>3</cp:revision>
  <dcterms:created xsi:type="dcterms:W3CDTF">2026-04-13T03:14:07Z</dcterms:created>
  <dcterms:modified xsi:type="dcterms:W3CDTF">2026-04-13T05:57:50Z</dcterms:modified>
</cp:coreProperties>
</file>