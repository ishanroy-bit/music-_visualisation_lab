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79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Guitar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Chord Detection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Music Theory Tool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Computer Science  ·  Project Based Learning – 4  ·  End Term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Name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3593592"/>
            <a:ext cx="457200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</a:rPr>
              <a:t>[Student Name]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7216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Reg. No.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977640"/>
            <a:ext cx="457200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216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</a:rPr>
              <a:t>[Registration No.]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1056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</a:rPr>
              <a:t>Guide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361688"/>
            <a:ext cx="4572000" cy="1828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4105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</a:rPr>
              <a:t>[Guide Name]</a:t>
            </a:r>
            <a:endParaRPr lang="en-US" sz="1000" dirty="0"/>
          </a:p>
        </p:txBody>
      </p:sp>
      <p:pic>
        <p:nvPicPr>
          <p:cNvPr id="15" name="Image 0" descr="/mnt/user-data/uploads/Screenshot_2026-04-13_08393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274320"/>
            <a:ext cx="3566160" cy="219456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51760"/>
            <a:ext cx="411480" cy="411480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651760"/>
            <a:ext cx="411480" cy="411480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26517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Manipal University Jaipur  ·  Department of Computer Science &amp; Engineering  ·  Jan–May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 of Learning Music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Abstract Notation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Traditional theory taught through static sheet music with no interactive feedback.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07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Passive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Students listen but cannot see how chords connect geometrically or harmonically.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54864" cy="14173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No Real-Time Link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Existing tools don't connect what you play to theory instantly.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54864" cy="14173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Tool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Apps like GarageBand focus on production, not chord theory education.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2D1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80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6FC"/>
                </a:solidFill>
              </a:rPr>
              <a:t>Our Goal: Transform abstract chord relationships into an interactive real-time visual experience that bridges the gap between playing and understanding.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Tools: Strengths and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97480" cy="256032"/>
          </a:xfrm>
          <a:prstGeom prst="rect">
            <a:avLst/>
          </a:prstGeom>
          <a:solidFill>
            <a:srgbClr val="378ADD">
              <a:alpha val="15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</a:rPr>
              <a:t>GarageBand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8988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362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User-friendly, widely used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7099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16824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Music production focused — no chord theory education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154680" y="1051560"/>
            <a:ext cx="269748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154680" y="1051560"/>
            <a:ext cx="2697480" cy="256032"/>
          </a:xfrm>
          <a:prstGeom prst="rect">
            <a:avLst/>
          </a:prstGeom>
          <a:solidFill>
            <a:srgbClr val="EF9F27">
              <a:alpha val="15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91840" y="1078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</a:rPr>
              <a:t>Ableton Live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38988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8728" y="1362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Professional composition &amp; performance tool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70992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38728" y="16824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No interactive theory teaching, requires paid licence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035040" y="1051560"/>
            <a:ext cx="269748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035040" y="1051560"/>
            <a:ext cx="2697480" cy="256032"/>
          </a:xfrm>
          <a:prstGeom prst="rect">
            <a:avLst/>
          </a:prstGeom>
          <a:solidFill>
            <a:srgbClr val="9B59B6">
              <a:alpha val="1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172200" y="1078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</a:rPr>
              <a:t>Hooktheory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38988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19088" y="13624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Good chord progression learning resource</a:t>
            </a:r>
            <a:endParaRPr lang="en-US" sz="9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709928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19088" y="16824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Analysis tool only — no live microphone detection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777240" y="2606040"/>
            <a:ext cx="420624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77240" y="2606040"/>
            <a:ext cx="4206240" cy="256032"/>
          </a:xfrm>
          <a:prstGeom prst="rect">
            <a:avLst/>
          </a:prstGeom>
          <a:solidFill>
            <a:srgbClr val="E24B4A">
              <a:alpha val="15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14400" y="26334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</a:rPr>
              <a:t>Yousician</a:t>
            </a:r>
            <a:endParaRPr lang="en-US" sz="12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944368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61288" y="291693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Game-like lessons, wide instrument coverage</a:t>
            </a:r>
            <a:endParaRPr lang="en-US" sz="9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264408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61288" y="3236976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Subscription paywall, no circle of fifths or theory depth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5257800" y="2606040"/>
            <a:ext cx="322072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5257800" y="2606040"/>
            <a:ext cx="3220720" cy="25603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5394960" y="26334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GuitarTuna</a:t>
            </a:r>
            <a:endParaRPr lang="en-US" sz="12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944368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641848" y="291693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</a:rPr>
              <a:t>Excellent chromatic tuner, widely used</a:t>
            </a:r>
            <a:endParaRPr lang="en-US" sz="95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3264408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641848" y="3236976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Tuner only — no chord detection or theory content</a:t>
            </a:r>
            <a:endParaRPr lang="en-US" sz="950" dirty="0"/>
          </a:p>
        </p:txBody>
      </p:sp>
      <p:sp>
        <p:nvSpPr>
          <p:cNvPr id="39" name="Text 27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</a:rPr>
              <a:t>Research finding: Visual learning increases retention by up to 65% vs text-only — yet interactive real-time theory tools remain largely absent from the market.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Built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51560"/>
            <a:ext cx="292608" cy="292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50992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Live Chord Detection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50992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Microphone → FFT → identifies chord in real-time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257800" y="1627632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71907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50992" y="1673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</a:rPr>
              <a:t>Noise Gate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650992" y="1947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Adjustable RMS threshold blocks ambient noise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257800" y="2295144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38658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50992" y="23408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</a:rPr>
              <a:t>Chord Hold Timer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650992" y="2615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Keeps last chord visible after signal fades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257800" y="2962656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054096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650992" y="30083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Circle of Fifths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650992" y="3282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Interactive SVG — auto-syncs to detected chord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257800" y="3630168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721608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650992" y="3675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</a:rPr>
              <a:t>Guitar Tuner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650992" y="3950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Autocorrelation pitch detection per string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5257800" y="4297680"/>
            <a:ext cx="356616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38912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650992" y="4343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</a:rPr>
              <a:t>Confidence Score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650992" y="4617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Shows match certainty with progress bar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274320" y="41148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1D9E75">
              <a:alpha val="2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2743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9E75"/>
                </a:solidFill>
              </a:rPr>
              <a:t>Single HTML File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1783080" y="41148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EF9F27">
              <a:alpha val="2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178308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9F27"/>
                </a:solidFill>
              </a:rPr>
              <a:t>No Libraries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3246120" y="411480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378ADD">
              <a:alpha val="20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324612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8ADD"/>
                </a:solidFill>
              </a:rPr>
              <a:t>Zero Install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35B9B09-F04B-BF5F-2C31-38B7FF98CD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1005841"/>
            <a:ext cx="4646227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Signal Processing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822960" cy="82296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197864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2860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Microphone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getUserMedia()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Stream capture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463040" y="1417320"/>
            <a:ext cx="4572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057400" y="1005840"/>
            <a:ext cx="822960" cy="822960"/>
          </a:xfrm>
          <a:prstGeom prst="ellipse">
            <a:avLst/>
          </a:prstGeom>
          <a:solidFill>
            <a:srgbClr val="378ADD">
              <a:alpha val="20000"/>
            </a:srgbClr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1179576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69164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FFT Analysis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69164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8192-point FFT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~5 Hz/bin resolution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926080" y="1417320"/>
            <a:ext cx="4572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3520440" y="1005840"/>
            <a:ext cx="822960" cy="822960"/>
          </a:xfrm>
          <a:prstGeom prst="ellipse">
            <a:avLst/>
          </a:prstGeom>
          <a:solidFill>
            <a:srgbClr val="EF9F27">
              <a:alpha val="20000"/>
            </a:srgbClr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608" y="120700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044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15468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Peak Detection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15468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Local maxima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Parabolic interpolation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389120" y="1417320"/>
            <a:ext cx="4572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4983480" y="1005840"/>
            <a:ext cx="822960" cy="822960"/>
          </a:xfrm>
          <a:prstGeom prst="ellipse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1231392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8348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61772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Harmonic Filter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61772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Remove overtones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Integer ratio test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852160" y="1417320"/>
            <a:ext cx="4572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6446520" y="1005840"/>
            <a:ext cx="822960" cy="82296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208" y="1194816"/>
            <a:ext cx="420624" cy="4206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4652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608076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Note Profile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08076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Weighted mapping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to 12 note names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315200" y="1417320"/>
            <a:ext cx="4572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7909560" y="1005840"/>
            <a:ext cx="822960" cy="822960"/>
          </a:xfrm>
          <a:prstGeom prst="ellipse">
            <a:avLst/>
          </a:prstGeom>
          <a:solidFill>
            <a:srgbClr val="E24B4A">
              <a:alpha val="20000"/>
            </a:srgbClr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0728" y="1170432"/>
            <a:ext cx="420624" cy="4206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90956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54380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Chord Match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543800" y="2240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Score 37 chords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10-frame confirmation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274320" y="2926080"/>
            <a:ext cx="411480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274320" y="2926080"/>
            <a:ext cx="54864" cy="10058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0292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</a:rPr>
              <a:t>Noise Gate (RMS)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502920" y="3291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Smoothed RMS = 0.85 × prev + 0.15 × current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If RMS &lt; threshold → skip detection entirely → prevents false chords from room noise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754880" y="2926080"/>
            <a:ext cx="411480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754880" y="2926080"/>
            <a:ext cx="54864" cy="10058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498348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</a:rPr>
              <a:t>Confirmation Buffer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4983480" y="3291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Chord must appear consistently for 10 frames (~160 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before display updates → eliminates major/minor flickering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 of Fifths — Theory Panel</a:t>
            </a:r>
            <a:endParaRPr lang="en-US" sz="2600" dirty="0"/>
          </a:p>
        </p:txBody>
      </p:sp>
      <p:pic>
        <p:nvPicPr>
          <p:cNvPr id="4" name="Image 0" descr="/mnt/user-data/uploads/circle_of_fifth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34747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0" y="960120"/>
            <a:ext cx="54864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15968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Auto-Sync to Detected Chord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15968" y="12344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When a chord is confirmed, the corresponding key lights up on the SVG circle automatically.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14800" y="1764792"/>
            <a:ext cx="54864" cy="6583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15968" y="1764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</a:rPr>
              <a:t>Outer Ring = Major Keys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15968" y="203911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12 major keys arranged clockwise by perfect fifth intervals. Each clockwise step adds one sharp.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0" y="2569464"/>
            <a:ext cx="54864" cy="6583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15968" y="25694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</a:rPr>
              <a:t>Inner Ring = Relative Minors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15968" y="284378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Each minor key sits directly inside its relative major, sharing the same key signature.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0" y="3374136"/>
            <a:ext cx="54864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15968" y="33741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</a:rPr>
              <a:t>Theory Card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15968" y="364845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Shows dominant, subdominant, relative key, diatonic chords, key signature, scale notes, and common progressions.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0" y="4178808"/>
            <a:ext cx="54864" cy="6583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15968" y="4178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4B4A"/>
                </a:solidFill>
              </a:rPr>
              <a:t>Click Any Node Manually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15968" y="445312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Users can override auto-detection for 8 seconds to explore any key independently.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— Noise Gate &amp; Chord Hold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" cy="35661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15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9F27"/>
                </a:solidFill>
              </a:rPr>
              <a:t>Noise Gate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Problem it solves: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Without a gate, room noise and microphone hiss cause constant false chord detections even when no guitar is being played.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How it works: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907792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1. Compute RMS of time-domain buffer each frame
2. Apply exponential smoothing (α = 0.15)
3. If below adjustable threshold (1–60%): skip FFT
4. Level meter shows real-time signal vs threshold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4114800" cy="356616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05840"/>
            <a:ext cx="54864" cy="35661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097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115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8ADD"/>
                </a:solidFill>
              </a:rPr>
              <a:t>Chord Hold Timer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8348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Problem it solves: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8348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Chord display used to clear instantly when strumming stopped, making it impossible to read the detected chord before the next strum.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983480" y="2606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How it works: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83480" y="2907792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1. Gate closes → confirmed chord enters 'hold' state
2. Amber countdown bar depletes over hold duration
3. User-adjustable hold: 0.5 s – 5 s (default 2 s)
4. New chord automatically cancels the hold timer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Guitar Tuner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Standard Tuning Reference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474720" cy="420624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E2 (6th)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481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82.41 Hz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34747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93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A2 (5th)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9933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110.0 Hz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3474720" cy="420624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054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D3 (4th)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5054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146.83 Hz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53512"/>
            <a:ext cx="34747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G3 (3rd)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196.0 Hz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65576"/>
            <a:ext cx="3474720" cy="420624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29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B3 (2nd)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5295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246.94 Hz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347472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E4 (1st)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40416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</a:rPr>
              <a:t>329.63 Hz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Pitch Detection Technique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417320"/>
            <a:ext cx="420624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417320"/>
            <a:ext cx="54864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472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Autocorrelation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17465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Measures similarity of signal with time-shifted copy → finds period → derives frequency. Best for sustained notes.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420624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286000"/>
            <a:ext cx="54864" cy="7772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340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FFT Peak 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2615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Finds dominant frequency bin in 70–360 Hz range. Best for attack phase of plucked strings.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154680"/>
            <a:ext cx="420624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154680"/>
            <a:ext cx="54864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209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Combined Estimate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34838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Both methods run simultaneously. If they agree within 35 cents → averaged. Otherwise FFT peak trusted.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023360"/>
            <a:ext cx="420624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4023360"/>
            <a:ext cx="54864" cy="7772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Median Smoothing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608" y="43525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Last 5 pitch readings sorted, median selected → eliminates single-frame outliers from noise.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with Existing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286000" cy="347472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1737360" cy="347472"/>
          </a:xfrm>
          <a:prstGeom prst="rect">
            <a:avLst/>
          </a:prstGeom>
          <a:solidFill>
            <a:srgbClr val="1D9E7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005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Our Tool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005840"/>
            <a:ext cx="1280160" cy="347472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256" y="1005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GuitarTuna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0136" y="1005840"/>
            <a:ext cx="1280160" cy="347472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0136" y="1005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Yousician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86016" y="1005840"/>
            <a:ext cx="1371600" cy="347472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6016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Hooktheory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371600"/>
            <a:ext cx="228600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Live chord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1371600"/>
            <a:ext cx="1737360" cy="411480"/>
          </a:xfrm>
          <a:prstGeom prst="rect">
            <a:avLst/>
          </a:prstGeom>
          <a:solidFill>
            <a:srgbClr val="162D1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34256" y="1371600"/>
            <a:ext cx="128016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1371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0136" y="1371600"/>
            <a:ext cx="128016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0136" y="1371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9F27"/>
                </a:solidFill>
              </a:rPr>
              <a:t>✓ (basic)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86016" y="1371600"/>
            <a:ext cx="137160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1810512"/>
            <a:ext cx="22860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Guitar tuner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1810512"/>
            <a:ext cx="1737360" cy="411480"/>
          </a:xfrm>
          <a:prstGeom prst="rect">
            <a:avLst/>
          </a:prstGeom>
          <a:solidFill>
            <a:srgbClr val="162D1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34256" y="1810512"/>
            <a:ext cx="12801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4256" y="18105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0136" y="1810512"/>
            <a:ext cx="12801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0136" y="18105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86016" y="1810512"/>
            <a:ext cx="13716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18105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" y="2249424"/>
            <a:ext cx="228600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2494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Circle of Fifths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0" y="2249424"/>
            <a:ext cx="1737360" cy="411480"/>
          </a:xfrm>
          <a:prstGeom prst="rect">
            <a:avLst/>
          </a:prstGeom>
          <a:solidFill>
            <a:srgbClr val="162D1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224942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34256" y="2249424"/>
            <a:ext cx="128016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34256" y="224942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0136" y="2249424"/>
            <a:ext cx="128016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0136" y="224942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86016" y="2249424"/>
            <a:ext cx="137160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86016" y="22494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9F27"/>
                </a:solidFill>
              </a:rPr>
              <a:t>✓ (static)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28600" y="2688336"/>
            <a:ext cx="22860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26883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Noise gate control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60320" y="2688336"/>
            <a:ext cx="1737360" cy="411480"/>
          </a:xfrm>
          <a:prstGeom prst="rect">
            <a:avLst/>
          </a:prstGeom>
          <a:solidFill>
            <a:srgbClr val="162D1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26883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34256" y="2688336"/>
            <a:ext cx="12801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34256" y="268833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660136" y="2688336"/>
            <a:ext cx="12801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0136" y="268833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986016" y="2688336"/>
            <a:ext cx="13716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86016" y="26883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28600" y="3127248"/>
            <a:ext cx="228600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3127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Theory card per key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60320" y="3127248"/>
            <a:ext cx="1737360" cy="411480"/>
          </a:xfrm>
          <a:prstGeom prst="rect">
            <a:avLst/>
          </a:prstGeom>
          <a:solidFill>
            <a:srgbClr val="162D1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0" y="31272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334256" y="3127248"/>
            <a:ext cx="128016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34256" y="3127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0136" y="3127248"/>
            <a:ext cx="128016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0136" y="3127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986016" y="3127248"/>
            <a:ext cx="137160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86016" y="3127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28600" y="3566160"/>
            <a:ext cx="22860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Chord hold timer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560320" y="3566160"/>
            <a:ext cx="1737360" cy="411480"/>
          </a:xfrm>
          <a:prstGeom prst="rect">
            <a:avLst/>
          </a:prstGeom>
          <a:solidFill>
            <a:srgbClr val="162D1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334256" y="3566160"/>
            <a:ext cx="12801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34256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660136" y="3566160"/>
            <a:ext cx="12801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0136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986016" y="3566160"/>
            <a:ext cx="13716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86016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228600" y="4005072"/>
            <a:ext cx="228600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40050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Free / no install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560320" y="4005072"/>
            <a:ext cx="1737360" cy="411480"/>
          </a:xfrm>
          <a:prstGeom prst="rect">
            <a:avLst/>
          </a:prstGeom>
          <a:solidFill>
            <a:srgbClr val="162D1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60320" y="4005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334256" y="4005072"/>
            <a:ext cx="128016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34256" y="40050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9F27"/>
                </a:solidFill>
              </a:rPr>
              <a:t>Freemium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660136" y="4005072"/>
            <a:ext cx="128016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60136" y="40050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9F27"/>
                </a:solidFill>
              </a:rPr>
              <a:t>Paid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986016" y="4005072"/>
            <a:ext cx="1371600" cy="411480"/>
          </a:xfrm>
          <a:prstGeom prst="rect">
            <a:avLst/>
          </a:prstGeom>
          <a:solidFill>
            <a:srgbClr val="1C2333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86016" y="4005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9F27"/>
                </a:solidFill>
              </a:rPr>
              <a:t>Freemium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228600" y="4443984"/>
            <a:ext cx="22860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28600" y="44439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Works offline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560320" y="4443984"/>
            <a:ext cx="1737360" cy="411480"/>
          </a:xfrm>
          <a:prstGeom prst="rect">
            <a:avLst/>
          </a:prstGeom>
          <a:solidFill>
            <a:srgbClr val="162D1E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60320" y="44439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4334256" y="4443984"/>
            <a:ext cx="12801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34256" y="444398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✓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5660136" y="4443984"/>
            <a:ext cx="128016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60136" y="444398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6986016" y="4443984"/>
            <a:ext cx="13716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86016" y="44439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✗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Detection Accuracy — Common Chords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G major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508760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508760"/>
            <a:ext cx="2578608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173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94%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110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A minor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2002536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002536"/>
            <a:ext cx="249631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110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91%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04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E minor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2496312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496312"/>
            <a:ext cx="2441448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0487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89%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8986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C major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2990088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2990088"/>
            <a:ext cx="2386584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89864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87%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3924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D major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03120" y="3483864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3483864"/>
            <a:ext cx="2249424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39242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82%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8862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</a:rPr>
              <a:t>F major (barre)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3977640"/>
            <a:ext cx="2743200" cy="201168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977640"/>
            <a:ext cx="1865376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862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</a:rPr>
              <a:t>68%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1005840"/>
            <a:ext cx="329184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133856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053328" y="1051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Noise gate works well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687568" y="13533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Prevents &gt;95% of false detections in quiet room conditions with gate at 15%.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577840" y="1810512"/>
            <a:ext cx="329184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938528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053328" y="1856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Confirmation buffer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687568" y="21579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Eliminated major/minor flickering completely in all 10 test sessions.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5577840" y="2615184"/>
            <a:ext cx="329184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2743200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053328" y="26609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Hold timer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687568" y="29626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100% of testers rated chord readability as 'improved' vs no hold.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5577840" y="3419856"/>
            <a:ext cx="329184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3547872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053328" y="34655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Barre chords harder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687568" y="37673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Complex voicings on built-in laptop mics drop accuracy to ~65–70%.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5577840" y="4224528"/>
            <a:ext cx="3291840" cy="713232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4352544"/>
            <a:ext cx="274320" cy="27432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053328" y="42702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Tuner accuracy ±3 cents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687568" y="45720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Comparable to GuitarTuna on single sustained strings in quiet conditions.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4124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43584"/>
            <a:ext cx="548640" cy="548640"/>
          </a:xfrm>
          <a:prstGeom prst="ellipse">
            <a:avLst/>
          </a:prstGeom>
          <a:solidFill>
            <a:srgbClr val="1D9E75">
              <a:alpha val="30000"/>
            </a:srgbClr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1673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1704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Interactive Circle of Fifths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737360" y="148132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SVG-rendered dynamic circle with auto-sync to detected chords, colour-coded states, and clickable nodes.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057400"/>
            <a:ext cx="8412480" cy="84124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203704"/>
            <a:ext cx="548640" cy="548640"/>
          </a:xfrm>
          <a:prstGeom prst="ellipse">
            <a:avLst/>
          </a:prstGeom>
          <a:solidFill>
            <a:srgbClr val="378ADD">
              <a:alpha val="30000"/>
            </a:srgbClr>
          </a:solidFill>
          <a:ln w="19050">
            <a:solidFill>
              <a:srgbClr val="378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203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8ADD"/>
                </a:solidFill>
              </a:rPr>
              <a:t>2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27685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21305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</a:rPr>
              <a:t>Real-Time Audio Detection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737360" y="244144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Web Audio API with 8192-point FFT, harmonic suppression, and weighted chord scoring across 37 chord types.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8412480" cy="84124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163824"/>
            <a:ext cx="548640" cy="548640"/>
          </a:xfrm>
          <a:prstGeom prst="ellipse">
            <a:avLst/>
          </a:prstGeom>
          <a:solidFill>
            <a:srgbClr val="EF9F27">
              <a:alpha val="30000"/>
            </a:srgbClr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F27"/>
                </a:solidFill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23697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9F27"/>
                </a:solidFill>
              </a:rPr>
              <a:t>Noise Gate + Hold System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737360" y="340156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Smoothed RMS gating prevents ambient noise false-positives; configurable hold timer keeps chord on screen.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3977640"/>
            <a:ext cx="8412480" cy="841248"/>
          </a:xfrm>
          <a:prstGeom prst="rect">
            <a:avLst/>
          </a:prstGeom>
          <a:solidFill>
            <a:srgbClr val="1C2333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920" y="4123944"/>
            <a:ext cx="548640" cy="548640"/>
          </a:xfrm>
          <a:prstGeom prst="ellipse">
            <a:avLst/>
          </a:prstGeom>
          <a:solidFill>
            <a:srgbClr val="9B59B6">
              <a:alpha val="30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92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59B6"/>
                </a:solidFill>
              </a:rPr>
              <a:t>4</a:t>
            </a:r>
            <a:endParaRPr lang="en-US" sz="1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4197096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37360" y="40507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</a:rPr>
              <a:t>Guitar Tuner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737360" y="436168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Autocorrelation + FFT combined pitch detection, median smoothing, per-string matching for all 6 guitar strings.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 Music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 Visual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Real-time FFT analysis, harmonic suppression, and a 10-frame confirmation buffer combine to produce reliable chord detection entirely within a browser — no server, no libraries, no installation.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9F27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89888"/>
            <a:ext cx="201168" cy="201168"/>
          </a:xfrm>
          <a:prstGeom prst="ellipse">
            <a:avLst/>
          </a:prstGeom>
          <a:solidFill>
            <a:srgbClr val="EF9F27">
              <a:alpha val="4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3624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ML-based chord classification (CNN on mel-spectrogram)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956816"/>
            <a:ext cx="201168" cy="201168"/>
          </a:xfrm>
          <a:prstGeom prst="ellipse">
            <a:avLst/>
          </a:prstGeom>
          <a:solidFill>
            <a:srgbClr val="EF9F27">
              <a:alpha val="4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9293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Extended chord library: sus2, sus4, augmented, jazz voicings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523744"/>
            <a:ext cx="201168" cy="201168"/>
          </a:xfrm>
          <a:prstGeom prst="ellipse">
            <a:avLst/>
          </a:prstGeom>
          <a:solidFill>
            <a:srgbClr val="EF9F27">
              <a:alpha val="4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4963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Chord progression detection (I–IV–V, ii–V–I patterns)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3090672"/>
            <a:ext cx="201168" cy="201168"/>
          </a:xfrm>
          <a:prstGeom prst="ellipse">
            <a:avLst/>
          </a:prstGeom>
          <a:solidFill>
            <a:srgbClr val="EF9F27">
              <a:alpha val="4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Capo and alternate tuning support (drop-D, open-G)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657600"/>
            <a:ext cx="201168" cy="201168"/>
          </a:xfrm>
          <a:prstGeom prst="ellipse">
            <a:avLst/>
          </a:prstGeom>
          <a:solidFill>
            <a:srgbClr val="EF9F27">
              <a:alpha val="4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630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Progressive Web App for offline mobile installation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4224528"/>
            <a:ext cx="201168" cy="201168"/>
          </a:xfrm>
          <a:prstGeom prst="ellipse">
            <a:avLst/>
          </a:prstGeom>
          <a:solidFill>
            <a:srgbClr val="EF9F27">
              <a:alpha val="4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41970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Visual spectrogram alongside the waveform display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1A0A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Manipal University Jaipur  ·  CSE  ·  PBL-4 End Term  ·  Jan–May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1210</Words>
  <Application>Microsoft Office PowerPoint</Application>
  <PresentationFormat>On-screen Show (16:9)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Guitar Chord Detection – End Term PBL</dc:title>
  <dc:subject>PptxGenJS Presentation</dc:subject>
  <dc:creator>PptxGenJS</dc:creator>
  <cp:lastModifiedBy>ISHAN ROY</cp:lastModifiedBy>
  <cp:revision>2</cp:revision>
  <dcterms:created xsi:type="dcterms:W3CDTF">2026-04-13T03:14:07Z</dcterms:created>
  <dcterms:modified xsi:type="dcterms:W3CDTF">2026-04-13T03:24:07Z</dcterms:modified>
</cp:coreProperties>
</file>